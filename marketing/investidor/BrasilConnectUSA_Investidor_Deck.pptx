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371600"/>
            <a:ext cx="6400800" cy="6400800"/>
          </a:xfrm>
          <a:prstGeom prst="ellipse">
            <a:avLst/>
          </a:prstGeom>
          <a:solidFill>
            <a:srgbClr val="009C3B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FFD70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40080"/>
            <a:ext cx="960120" cy="960120"/>
          </a:xfrm>
          <a:prstGeom prst="roundRect">
            <a:avLst>
              <a:gd name="adj" fmla="val 15238"/>
            </a:avLst>
          </a:prstGeom>
          <a:solidFill>
            <a:srgbClr val="009C3B"/>
          </a:solidFill>
          <a:ln/>
        </p:spPr>
      </p:sp>
      <p:pic>
        <p:nvPicPr>
          <p:cNvPr id="5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85800"/>
            <a:ext cx="868680" cy="868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8412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BRASILCONNECT USA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92024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casa digital da comunidade brasileira nos EUA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24688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super-app que conecta </a:t>
            </a:r>
            <a:pPr indent="0" marL="0">
              <a:buNone/>
            </a:pPr>
            <a:r>
              <a:rPr lang="en-US" sz="4000" b="1" dirty="0">
                <a:solidFill>
                  <a:srgbClr val="FFD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1,9 milhão</a:t>
            </a:r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777240" y="324612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brasileiros nos Estados Unidos.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77724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7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Remessas, comunidade, negócios, viagem e imigração — em português, num só lugar. Produto construído e pronto para lançar na onda da Copa do Mundo 2026.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0A2548"/>
          </a:solidFill>
          <a:ln/>
        </p:spPr>
      </p:sp>
      <p:sp>
        <p:nvSpPr>
          <p:cNvPr id="12" name="Shape 9"/>
          <p:cNvSpPr/>
          <p:nvPr/>
        </p:nvSpPr>
        <p:spPr>
          <a:xfrm>
            <a:off x="0" y="6172200"/>
            <a:ext cx="4063898" cy="54864"/>
          </a:xfrm>
          <a:prstGeom prst="rect">
            <a:avLst/>
          </a:prstGeom>
          <a:solidFill>
            <a:srgbClr val="009C3B"/>
          </a:solidFill>
          <a:ln/>
        </p:spPr>
      </p:sp>
      <p:sp>
        <p:nvSpPr>
          <p:cNvPr id="13" name="Shape 10"/>
          <p:cNvSpPr/>
          <p:nvPr/>
        </p:nvSpPr>
        <p:spPr>
          <a:xfrm>
            <a:off x="4063898" y="6172200"/>
            <a:ext cx="4063898" cy="54864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4" name="Shape 11"/>
          <p:cNvSpPr/>
          <p:nvPr/>
        </p:nvSpPr>
        <p:spPr>
          <a:xfrm>
            <a:off x="8127797" y="6172200"/>
            <a:ext cx="4063898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63276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Rodada Seed · 2026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675120" y="632764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brasilconnectusa.com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9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Viver longe do Brasil é caro, confuso e solitário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62763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brasileiro nos EUA resolve a vida em apps gringos que não falam a língua dele — e em grupos de WhatsApp desorganizados, cheios de golpe.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53035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2587752"/>
            <a:ext cx="566928" cy="566928"/>
          </a:xfrm>
          <a:prstGeom prst="ellipse">
            <a:avLst/>
          </a:prstGeom>
          <a:solidFill>
            <a:srgbClr val="EAF5E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676" y="2712476"/>
            <a:ext cx="317480" cy="317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8952" y="3246120"/>
            <a:ext cx="4791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Remessas caras e opacas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58952" y="3630168"/>
            <a:ext cx="4791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Mandar dinheiro pra família vira um quebra-cabeça de taxas escondidas e câmbio ruim, espalhado em 8 apps diferentes.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55080" y="2331720"/>
            <a:ext cx="53035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11112" y="2587752"/>
            <a:ext cx="566928" cy="566928"/>
          </a:xfrm>
          <a:prstGeom prst="ellipse">
            <a:avLst/>
          </a:prstGeom>
          <a:solidFill>
            <a:srgbClr val="EAF5E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5836" y="2712476"/>
            <a:ext cx="317480" cy="317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11112" y="3246120"/>
            <a:ext cx="4791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Serviços impossíveis de achar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611112" y="3630168"/>
            <a:ext cx="4791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Contador, advogado de imigração, dentista brasileiro: tudo no boca a boca e em grupos perdidos do Facebook.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02920" y="4370832"/>
            <a:ext cx="53035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58952" y="4626864"/>
            <a:ext cx="566928" cy="566928"/>
          </a:xfrm>
          <a:prstGeom prst="ellipse">
            <a:avLst/>
          </a:prstGeom>
          <a:solidFill>
            <a:srgbClr val="EAF5E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676" y="4751588"/>
            <a:ext cx="317480" cy="317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58952" y="5285232"/>
            <a:ext cx="4791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Golpes e desconfiança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758952" y="5669280"/>
            <a:ext cx="4791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informais sem moderação. Aluguel, carro e serviços viram terreno fértil pra fraude.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355080" y="4370832"/>
            <a:ext cx="530352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11112" y="4626864"/>
            <a:ext cx="566928" cy="566928"/>
          </a:xfrm>
          <a:prstGeom prst="ellipse">
            <a:avLst/>
          </a:prstGeom>
          <a:solidFill>
            <a:srgbClr val="EAF5E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5836" y="4751588"/>
            <a:ext cx="317480" cy="317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611112" y="5285232"/>
            <a:ext cx="4791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Solidão e falta de comunidade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611112" y="5669280"/>
            <a:ext cx="4791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Recém-chegado não sabe onde encontrar gente do seu estado, eventos ou quem já passou pela mesma burocracia.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BrasilConnect USA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411480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material para investidor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1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009C3B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OPORTUNIDADE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diáspora grande, conectada e que move bilhões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456432" cy="2331720"/>
          </a:xfrm>
          <a:prstGeom prst="roundRect">
            <a:avLst>
              <a:gd name="adj" fmla="val 3922"/>
            </a:avLst>
          </a:prstGeom>
          <a:solidFill>
            <a:srgbClr val="0A2548"/>
          </a:solidFill>
          <a:ln w="12700">
            <a:solidFill>
              <a:srgbClr val="2434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3317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D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~1,9M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brasileiros vivendo nos EUA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5ª maior comunidade de imigrantes; concentrada em FL, MA, NJ, CA, GA.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79392" y="2057400"/>
            <a:ext cx="3456432" cy="2331720"/>
          </a:xfrm>
          <a:prstGeom prst="roundRect">
            <a:avLst>
              <a:gd name="adj" fmla="val 3922"/>
            </a:avLst>
          </a:prstGeom>
          <a:solidFill>
            <a:srgbClr val="0A2548"/>
          </a:solidFill>
          <a:ln w="12700">
            <a:solidFill>
              <a:srgbClr val="2434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23317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D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US$ 2–3 bi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53712" y="32004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remessas EUA → Brasil por ano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53712" y="37490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EUA são a maior origem de remessas para o Brasil.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10144" y="2057400"/>
            <a:ext cx="3456432" cy="2331720"/>
          </a:xfrm>
          <a:prstGeom prst="roundRect">
            <a:avLst>
              <a:gd name="adj" fmla="val 3922"/>
            </a:avLst>
          </a:prstGeom>
          <a:solidFill>
            <a:srgbClr val="0A2548"/>
          </a:solidFill>
          <a:ln w="12700">
            <a:solidFill>
              <a:srgbClr val="2434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4464" y="23317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D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US$ 40 bi+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284464" y="320040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poder de consumo anual estimado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84464" y="374904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Moradia, comida, serviços, viagem e envio de dinheiro.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11109960" cy="1234440"/>
          </a:xfrm>
          <a:prstGeom prst="roundRect">
            <a:avLst>
              <a:gd name="adj" fmla="val 7407"/>
            </a:avLst>
          </a:prstGeom>
          <a:solidFill>
            <a:srgbClr val="11224F"/>
          </a:solidFill>
          <a:ln w="12700">
            <a:solidFill>
              <a:srgbClr val="24345E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074920"/>
            <a:ext cx="502920" cy="5029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554480" y="493776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D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está crescendo.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7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imigração brasileira para os EUA acelerou na última década, a comunidade é jovem e digital, e a Copa do Mundo de 2026 nos EUA coloca os holofotes sobre ela como nunca antes.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60167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7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Estimativas: Itamaraty / MRE, Banco Mundial (Migration &amp; Remittances), análise própria. Números arredondados.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9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só app para toda a vida do brasileiro nos EUA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BrasilConnect USA é o super-app da comunidade: tudo que o gringo resolve em dez apps diferentes, o brasileiro resolve aqui — em português, com gente de confiança e taxas justas.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0" y="1691640"/>
            <a:ext cx="6172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42432" y="1892808"/>
            <a:ext cx="548640" cy="548640"/>
          </a:xfrm>
          <a:prstGeom prst="ellipse">
            <a:avLst/>
          </a:prstGeom>
          <a:solidFill>
            <a:srgbClr val="EAF5E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79592" y="202996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9224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Economiza dinheiro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92240" y="219456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remessas e câmbio em tempo real e leva pro melhor parceiro.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0" y="2807208"/>
            <a:ext cx="6172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42432" y="3008376"/>
            <a:ext cx="548640" cy="548640"/>
          </a:xfrm>
          <a:prstGeom prst="ellipse">
            <a:avLst/>
          </a:prstGeom>
          <a:solidFill>
            <a:srgbClr val="EAF5E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2" y="314553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92240" y="29443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Cria pertencimento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92240" y="331012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por interesse e por estado, eventos e perfis verificados.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486400" y="3922776"/>
            <a:ext cx="6172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742432" y="4123944"/>
            <a:ext cx="548640" cy="548640"/>
          </a:xfrm>
          <a:prstGeom prst="ellipse">
            <a:avLst/>
          </a:prstGeom>
          <a:solidFill>
            <a:srgbClr val="EAF5E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426110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2240" y="40599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a economia local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92240" y="4425696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Diretório e marketplace de negócios brasileiros, com pedidos online.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0" y="5038344"/>
            <a:ext cx="61722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742432" y="5239512"/>
            <a:ext cx="548640" cy="548640"/>
          </a:xfrm>
          <a:prstGeom prst="ellipse">
            <a:avLst/>
          </a:prstGeom>
          <a:solidFill>
            <a:srgbClr val="EAF5E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5376672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92240" y="517550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Sempre no bolso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492240" y="5541264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instalável, push em português e onboarding guiado.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02920" y="3657600"/>
            <a:ext cx="4663440" cy="2331720"/>
          </a:xfrm>
          <a:prstGeom prst="roundRect">
            <a:avLst>
              <a:gd name="adj" fmla="val 3922"/>
            </a:avLst>
          </a:prstGeom>
          <a:solidFill>
            <a:srgbClr val="001A5E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02920" y="3657600"/>
            <a:ext cx="109728" cy="233172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7" name="Text 21"/>
          <p:cNvSpPr/>
          <p:nvPr/>
        </p:nvSpPr>
        <p:spPr>
          <a:xfrm>
            <a:off x="731520" y="36118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B3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5400" dirty="0"/>
          </a:p>
        </p:txBody>
      </p:sp>
      <p:sp>
        <p:nvSpPr>
          <p:cNvPr id="28" name="Text 22"/>
          <p:cNvSpPr/>
          <p:nvPr/>
        </p:nvSpPr>
        <p:spPr>
          <a:xfrm>
            <a:off x="822960" y="434340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brasileiro nos EUA não precisa de mais um app.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Precisa de um lugar que seja dele.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BrasilConnect USA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411480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material para investidor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9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· JÁ NO 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uma ideia. É um produto pronto.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6276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módulos funcionando, integrados a pagamentos, e-mail e push. Construído enxuto — pronto para escalar com capital.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240280"/>
            <a:ext cx="36576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2240280"/>
            <a:ext cx="91440" cy="1207008"/>
          </a:xfrm>
          <a:prstGeom prst="rect">
            <a:avLst/>
          </a:prstGeom>
          <a:solidFill>
            <a:srgbClr val="009C3B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2532888"/>
            <a:ext cx="603504" cy="603504"/>
          </a:xfrm>
          <a:prstGeom prst="ellipse">
            <a:avLst/>
          </a:prstGeom>
          <a:solidFill>
            <a:srgbClr val="EAF5E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688336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27048" y="24963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Câmbio &amp; Remessas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527048" y="2880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Comparador ao vivo + parceiros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79392" y="2240280"/>
            <a:ext cx="36576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79392" y="2240280"/>
            <a:ext cx="91440" cy="1207008"/>
          </a:xfrm>
          <a:prstGeom prst="rect">
            <a:avLst/>
          </a:prstGeom>
          <a:solidFill>
            <a:srgbClr val="009C3B"/>
          </a:solidFill>
          <a:ln/>
        </p:spPr>
      </p:sp>
      <p:sp>
        <p:nvSpPr>
          <p:cNvPr id="13" name="Shape 10"/>
          <p:cNvSpPr/>
          <p:nvPr/>
        </p:nvSpPr>
        <p:spPr>
          <a:xfrm>
            <a:off x="4553712" y="2532888"/>
            <a:ext cx="603504" cy="603504"/>
          </a:xfrm>
          <a:prstGeom prst="ellipse">
            <a:avLst/>
          </a:prstGeom>
          <a:solidFill>
            <a:srgbClr val="EAF5E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688336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03520" y="24963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Diretório de negócios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303520" y="2880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Negócios brasileiros por raio/cidade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055864" y="2240280"/>
            <a:ext cx="36576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55864" y="2240280"/>
            <a:ext cx="91440" cy="1207008"/>
          </a:xfrm>
          <a:prstGeom prst="rect">
            <a:avLst/>
          </a:prstGeom>
          <a:solidFill>
            <a:srgbClr val="009C3B"/>
          </a:solidFill>
          <a:ln/>
        </p:spPr>
      </p:sp>
      <p:sp>
        <p:nvSpPr>
          <p:cNvPr id="19" name="Shape 15"/>
          <p:cNvSpPr/>
          <p:nvPr/>
        </p:nvSpPr>
        <p:spPr>
          <a:xfrm>
            <a:off x="8330184" y="2532888"/>
            <a:ext cx="603504" cy="603504"/>
          </a:xfrm>
          <a:prstGeom prst="ellipse">
            <a:avLst/>
          </a:prstGeom>
          <a:solidFill>
            <a:srgbClr val="EAF5E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2688336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79992" y="24963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Restaurant Connect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9079992" y="28803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Cardápio + pedidos online, taxa 2%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02920" y="3566160"/>
            <a:ext cx="36576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02920" y="3566160"/>
            <a:ext cx="91440" cy="1207008"/>
          </a:xfrm>
          <a:prstGeom prst="rect">
            <a:avLst/>
          </a:prstGeom>
          <a:solidFill>
            <a:srgbClr val="009C3B"/>
          </a:solidFill>
          <a:ln/>
        </p:spPr>
      </p:sp>
      <p:sp>
        <p:nvSpPr>
          <p:cNvPr id="25" name="Shape 20"/>
          <p:cNvSpPr/>
          <p:nvPr/>
        </p:nvSpPr>
        <p:spPr>
          <a:xfrm>
            <a:off x="777240" y="3858768"/>
            <a:ext cx="603504" cy="603504"/>
          </a:xfrm>
          <a:prstGeom prst="ellipse">
            <a:avLst/>
          </a:prstGeom>
          <a:solidFill>
            <a:srgbClr val="EAF5EE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014216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527048" y="38221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Grupos &amp; Comunidade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1527048" y="4206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interesses + ranking por estado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4279392" y="3566160"/>
            <a:ext cx="36576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279392" y="3566160"/>
            <a:ext cx="91440" cy="1207008"/>
          </a:xfrm>
          <a:prstGeom prst="rect">
            <a:avLst/>
          </a:prstGeom>
          <a:solidFill>
            <a:srgbClr val="009C3B"/>
          </a:solidFill>
          <a:ln/>
        </p:spPr>
      </p:sp>
      <p:sp>
        <p:nvSpPr>
          <p:cNvPr id="31" name="Shape 25"/>
          <p:cNvSpPr/>
          <p:nvPr/>
        </p:nvSpPr>
        <p:spPr>
          <a:xfrm>
            <a:off x="4553712" y="3858768"/>
            <a:ext cx="603504" cy="603504"/>
          </a:xfrm>
          <a:prstGeom prst="ellipse">
            <a:avLst/>
          </a:prstGeom>
          <a:solidFill>
            <a:srgbClr val="EAF5EE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4014216"/>
            <a:ext cx="292608" cy="29260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303520" y="38221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AgendaPro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5303520" y="4206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de serviços com depósito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8055864" y="3566160"/>
            <a:ext cx="36576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055864" y="3566160"/>
            <a:ext cx="91440" cy="1207008"/>
          </a:xfrm>
          <a:prstGeom prst="rect">
            <a:avLst/>
          </a:prstGeom>
          <a:solidFill>
            <a:srgbClr val="009C3B"/>
          </a:solidFill>
          <a:ln/>
        </p:spPr>
      </p:sp>
      <p:sp>
        <p:nvSpPr>
          <p:cNvPr id="37" name="Shape 30"/>
          <p:cNvSpPr/>
          <p:nvPr/>
        </p:nvSpPr>
        <p:spPr>
          <a:xfrm>
            <a:off x="8330184" y="3858768"/>
            <a:ext cx="603504" cy="603504"/>
          </a:xfrm>
          <a:prstGeom prst="ellipse">
            <a:avLst/>
          </a:prstGeom>
          <a:solidFill>
            <a:srgbClr val="EAF5EE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2" y="4014216"/>
            <a:ext cx="292608" cy="292608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079992" y="382219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</a:t>
            </a:r>
            <a:endParaRPr lang="en-US" sz="1400" dirty="0"/>
          </a:p>
        </p:txBody>
      </p:sp>
      <p:sp>
        <p:nvSpPr>
          <p:cNvPr id="40" name="Text 32"/>
          <p:cNvSpPr/>
          <p:nvPr/>
        </p:nvSpPr>
        <p:spPr>
          <a:xfrm>
            <a:off x="9079992" y="42062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 &amp; troca com moderação</a:t>
            </a:r>
            <a:endParaRPr lang="en-US" sz="1050" dirty="0"/>
          </a:p>
        </p:txBody>
      </p:sp>
      <p:sp>
        <p:nvSpPr>
          <p:cNvPr id="41" name="Shape 33"/>
          <p:cNvSpPr/>
          <p:nvPr/>
        </p:nvSpPr>
        <p:spPr>
          <a:xfrm>
            <a:off x="502920" y="4892040"/>
            <a:ext cx="36576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502920" y="4892040"/>
            <a:ext cx="91440" cy="1207008"/>
          </a:xfrm>
          <a:prstGeom prst="rect">
            <a:avLst/>
          </a:prstGeom>
          <a:solidFill>
            <a:srgbClr val="009C3B"/>
          </a:solidFill>
          <a:ln/>
        </p:spPr>
      </p:sp>
      <p:sp>
        <p:nvSpPr>
          <p:cNvPr id="43" name="Shape 35"/>
          <p:cNvSpPr/>
          <p:nvPr/>
        </p:nvSpPr>
        <p:spPr>
          <a:xfrm>
            <a:off x="777240" y="5184648"/>
            <a:ext cx="603504" cy="603504"/>
          </a:xfrm>
          <a:prstGeom prst="ellipse">
            <a:avLst/>
          </a:prstGeom>
          <a:solidFill>
            <a:srgbClr val="EAF5EE"/>
          </a:solidFill>
          <a:ln/>
        </p:spPr>
      </p:sp>
      <p:pic>
        <p:nvPicPr>
          <p:cNvPr id="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" y="5340096"/>
            <a:ext cx="292608" cy="292608"/>
          </a:xfrm>
          <a:prstGeom prst="rect">
            <a:avLst/>
          </a:prstGeom>
        </p:spPr>
      </p:pic>
      <p:sp>
        <p:nvSpPr>
          <p:cNvPr id="45" name="Text 36"/>
          <p:cNvSpPr/>
          <p:nvPr/>
        </p:nvSpPr>
        <p:spPr>
          <a:xfrm>
            <a:off x="1527048" y="51480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Viagem</a:t>
            </a:r>
            <a:endParaRPr lang="en-US" sz="1400" dirty="0"/>
          </a:p>
        </p:txBody>
      </p:sp>
      <p:sp>
        <p:nvSpPr>
          <p:cNvPr id="46" name="Text 37"/>
          <p:cNvSpPr/>
          <p:nvPr/>
        </p:nvSpPr>
        <p:spPr>
          <a:xfrm>
            <a:off x="1527048" y="5532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Voos, hotéis, parques e roteiros</a:t>
            </a:r>
            <a:endParaRPr lang="en-US" sz="1050" dirty="0"/>
          </a:p>
        </p:txBody>
      </p:sp>
      <p:sp>
        <p:nvSpPr>
          <p:cNvPr id="47" name="Shape 38"/>
          <p:cNvSpPr/>
          <p:nvPr/>
        </p:nvSpPr>
        <p:spPr>
          <a:xfrm>
            <a:off x="4279392" y="4892040"/>
            <a:ext cx="36576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4279392" y="4892040"/>
            <a:ext cx="91440" cy="1207008"/>
          </a:xfrm>
          <a:prstGeom prst="rect">
            <a:avLst/>
          </a:prstGeom>
          <a:solidFill>
            <a:srgbClr val="009C3B"/>
          </a:solidFill>
          <a:ln/>
        </p:spPr>
      </p:sp>
      <p:sp>
        <p:nvSpPr>
          <p:cNvPr id="49" name="Shape 40"/>
          <p:cNvSpPr/>
          <p:nvPr/>
        </p:nvSpPr>
        <p:spPr>
          <a:xfrm>
            <a:off x="4553712" y="5184648"/>
            <a:ext cx="603504" cy="603504"/>
          </a:xfrm>
          <a:prstGeom prst="ellipse">
            <a:avLst/>
          </a:prstGeom>
          <a:solidFill>
            <a:srgbClr val="EAF5EE"/>
          </a:solidFill>
          <a:ln/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160" y="5340096"/>
            <a:ext cx="292608" cy="292608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5303520" y="51480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Imigração &amp; Guias</a:t>
            </a:r>
            <a:endParaRPr lang="en-US" sz="1400" dirty="0"/>
          </a:p>
        </p:txBody>
      </p:sp>
      <p:sp>
        <p:nvSpPr>
          <p:cNvPr id="52" name="Text 42"/>
          <p:cNvSpPr/>
          <p:nvPr/>
        </p:nvSpPr>
        <p:spPr>
          <a:xfrm>
            <a:off x="5303520" y="5532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SEO + guias práticos</a:t>
            </a:r>
            <a:endParaRPr lang="en-US" sz="1050" dirty="0"/>
          </a:p>
        </p:txBody>
      </p:sp>
      <p:sp>
        <p:nvSpPr>
          <p:cNvPr id="53" name="Shape 43"/>
          <p:cNvSpPr/>
          <p:nvPr/>
        </p:nvSpPr>
        <p:spPr>
          <a:xfrm>
            <a:off x="8055864" y="4892040"/>
            <a:ext cx="365760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54" name="Shape 44"/>
          <p:cNvSpPr/>
          <p:nvPr/>
        </p:nvSpPr>
        <p:spPr>
          <a:xfrm>
            <a:off x="8055864" y="4892040"/>
            <a:ext cx="91440" cy="120700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55" name="Shape 45"/>
          <p:cNvSpPr/>
          <p:nvPr/>
        </p:nvSpPr>
        <p:spPr>
          <a:xfrm>
            <a:off x="8330184" y="5184648"/>
            <a:ext cx="603504" cy="603504"/>
          </a:xfrm>
          <a:prstGeom prst="ellipse">
            <a:avLst/>
          </a:prstGeom>
          <a:solidFill>
            <a:srgbClr val="EAF5EE"/>
          </a:solidFill>
          <a:ln/>
        </p:spPr>
      </p:sp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85632" y="5340096"/>
            <a:ext cx="292608" cy="292608"/>
          </a:xfrm>
          <a:prstGeom prst="rect">
            <a:avLst/>
          </a:prstGeom>
        </p:spPr>
      </p:pic>
      <p:sp>
        <p:nvSpPr>
          <p:cNvPr id="57" name="Text 46"/>
          <p:cNvSpPr/>
          <p:nvPr/>
        </p:nvSpPr>
        <p:spPr>
          <a:xfrm>
            <a:off x="9079992" y="51480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Bolão Copa 2026</a:t>
            </a:r>
            <a:endParaRPr lang="en-US" sz="1400" dirty="0"/>
          </a:p>
        </p:txBody>
      </p:sp>
      <p:sp>
        <p:nvSpPr>
          <p:cNvPr id="58" name="Text 47"/>
          <p:cNvSpPr/>
          <p:nvPr/>
        </p:nvSpPr>
        <p:spPr>
          <a:xfrm>
            <a:off x="9079992" y="5532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Gancho viral de aquisição</a:t>
            </a:r>
            <a:endParaRPr lang="en-US" sz="1050" dirty="0"/>
          </a:p>
        </p:txBody>
      </p:sp>
      <p:sp>
        <p:nvSpPr>
          <p:cNvPr id="59" name="Text 48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BrasilConnect USA</a:t>
            </a:r>
            <a:endParaRPr lang="en-US" sz="900" dirty="0"/>
          </a:p>
        </p:txBody>
      </p:sp>
      <p:sp>
        <p:nvSpPr>
          <p:cNvPr id="60" name="Text 49"/>
          <p:cNvSpPr/>
          <p:nvPr/>
        </p:nvSpPr>
        <p:spPr>
          <a:xfrm>
            <a:off x="411480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material para investidor</a:t>
            </a:r>
            <a:endParaRPr lang="en-US" sz="900" dirty="0"/>
          </a:p>
        </p:txBody>
      </p:sp>
      <p:sp>
        <p:nvSpPr>
          <p:cNvPr id="61" name="Text 50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9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NEGÓCIO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Cinco fontes de receita, um só público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62763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diversificada: transacional, recorrente e por performance. Cada módulo monetiza de um jeito.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240280"/>
            <a:ext cx="3474720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2478024"/>
            <a:ext cx="548640" cy="548640"/>
          </a:xfrm>
          <a:prstGeom prst="ellipse">
            <a:avLst/>
          </a:prstGeom>
          <a:solidFill>
            <a:srgbClr val="EAF5E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615184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4963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Afiliados de remessa &amp; finanças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58952" y="3136392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Comissão por cliente que envia dinheiro ou abre conta via parceiros (Wise, Remitly, Western Union…).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33672" y="2240280"/>
            <a:ext cx="3474720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9704" y="2478024"/>
            <a:ext cx="548640" cy="548640"/>
          </a:xfrm>
          <a:prstGeom prst="ellipse">
            <a:avLst/>
          </a:prstGeom>
          <a:solidFill>
            <a:srgbClr val="EAF5E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864" y="2615184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48072" y="24963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Assinaturas de negócios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489704" y="3136392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 Starter / Pro / Premium para negócios brasileiros aparecerem e venderem mais.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964424" y="2240280"/>
            <a:ext cx="3474720" cy="1755648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0456" y="2478024"/>
            <a:ext cx="548640" cy="548640"/>
          </a:xfrm>
          <a:prstGeom prst="ellipse">
            <a:avLst/>
          </a:prstGeom>
          <a:solidFill>
            <a:srgbClr val="EAF5E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2615184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78824" y="24963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Restaurant Connect (taxa 2%)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220456" y="3136392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Fração da taxa de gigantes como DoorDash (15–30%). Volume na comunidade.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02920" y="4160520"/>
            <a:ext cx="539496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58952" y="4398264"/>
            <a:ext cx="548640" cy="548640"/>
          </a:xfrm>
          <a:prstGeom prst="ellipse">
            <a:avLst/>
          </a:prstGeom>
          <a:solidFill>
            <a:srgbClr val="EAF5E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535424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17320" y="441655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AgendaPro &amp; sponsors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758952" y="5056632"/>
            <a:ext cx="4882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sobre booking de serviços + posições patrocinadas no feed e diretório.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245352" y="4160520"/>
            <a:ext cx="5394960" cy="1627632"/>
          </a:xfrm>
          <a:prstGeom prst="roundRect">
            <a:avLst>
              <a:gd name="adj" fmla="val 5056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501384" y="4398264"/>
            <a:ext cx="548640" cy="548640"/>
          </a:xfrm>
          <a:prstGeom prst="ellipse">
            <a:avLst/>
          </a:prstGeom>
          <a:solidFill>
            <a:srgbClr val="EAF5EE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4535424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59752" y="441655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Afiliados de viagem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6501384" y="5056632"/>
            <a:ext cx="4882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Comissão em voos, hotéis, ingressos de parques e passeios.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BrasilConnect USA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411480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material para investidor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1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09C3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2743200"/>
            <a:ext cx="5943600" cy="5943600"/>
          </a:xfrm>
          <a:prstGeom prst="ellipse">
            <a:avLst/>
          </a:prstGeom>
          <a:solidFill>
            <a:srgbClr val="FFD700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AGORA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Copa do Mundo de 2026 é nos EUA — e começa agora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0116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65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7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 primeira vez a Copa acontece em solo americano (EUA, Canadá e México). É o maior momento de atenção e euforia da comunidade brasileira aqui em uma geração — e nosso gancho de aquisição viral.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3291840"/>
            <a:ext cx="3456432" cy="2606040"/>
          </a:xfrm>
          <a:prstGeom prst="roundRect">
            <a:avLst>
              <a:gd name="adj" fmla="val 3509"/>
            </a:avLst>
          </a:prstGeom>
          <a:solidFill>
            <a:srgbClr val="0A2548"/>
          </a:solidFill>
          <a:ln w="12700">
            <a:solidFill>
              <a:srgbClr val="2434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3566160"/>
            <a:ext cx="640080" cy="640080"/>
          </a:xfrm>
          <a:prstGeom prst="ellipse">
            <a:avLst/>
          </a:prstGeom>
          <a:solidFill>
            <a:srgbClr val="12244F"/>
          </a:solidFill>
          <a:ln w="12700">
            <a:solidFill>
              <a:srgbClr val="2C3F6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373989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43159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Bolão viral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22960" y="4736592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Bolão Copa 2026 (grátis) traz usuários em massa via grupos de amigos e ranking por estado — aquisição de baixo custo.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279392" y="3291840"/>
            <a:ext cx="3456432" cy="2606040"/>
          </a:xfrm>
          <a:prstGeom prst="roundRect">
            <a:avLst>
              <a:gd name="adj" fmla="val 3509"/>
            </a:avLst>
          </a:prstGeom>
          <a:solidFill>
            <a:srgbClr val="0A2548"/>
          </a:solidFill>
          <a:ln w="12700">
            <a:solidFill>
              <a:srgbClr val="24345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53712" y="3566160"/>
            <a:ext cx="640080" cy="640080"/>
          </a:xfrm>
          <a:prstGeom prst="ellipse">
            <a:avLst/>
          </a:prstGeom>
          <a:solidFill>
            <a:srgbClr val="12244F"/>
          </a:solidFill>
          <a:ln w="12700">
            <a:solidFill>
              <a:srgbClr val="2C3F6E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8" y="373989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53712" y="43159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Holofote na diáspora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4553712" y="4736592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Imprensa, marcas e turismo voltados ao Brasil nos EUA criam demanda e oportunidades de parceria.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010144" y="3291840"/>
            <a:ext cx="3456432" cy="2606040"/>
          </a:xfrm>
          <a:prstGeom prst="roundRect">
            <a:avLst>
              <a:gd name="adj" fmla="val 3509"/>
            </a:avLst>
          </a:prstGeom>
          <a:solidFill>
            <a:srgbClr val="0A2548"/>
          </a:solidFill>
          <a:ln w="12700">
            <a:solidFill>
              <a:srgbClr val="24345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84464" y="3566160"/>
            <a:ext cx="640080" cy="640080"/>
          </a:xfrm>
          <a:prstGeom prst="ellipse">
            <a:avLst/>
          </a:prstGeom>
          <a:solidFill>
            <a:srgbClr val="12244F"/>
          </a:solidFill>
          <a:ln w="12700">
            <a:solidFill>
              <a:srgbClr val="2C3F6E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3739896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84464" y="43159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Produto pronto na hora certa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8284464" y="4736592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C7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Enquanto outros começariam a construir, nós já estamos no ar. O capital vira crescimento, não protótipo.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BrasilConnect USA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411480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material para investidor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D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9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Crescimento em comunidade: viral, orgânico, barato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2103120"/>
            <a:ext cx="2670048" cy="320040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72184" y="2423160"/>
            <a:ext cx="731520" cy="731520"/>
          </a:xfrm>
          <a:prstGeom prst="ellipse">
            <a:avLst/>
          </a:prstGeom>
          <a:solidFill>
            <a:srgbClr val="EAF5E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" y="26243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29184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9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Gancho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40080" y="35844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Bolão Copa grátis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85800" y="4114800"/>
            <a:ext cx="2304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Atrai usuários em massa via convite de amigos e disputa por estado.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081528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3355848" y="2103120"/>
            <a:ext cx="2670048" cy="320040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25112" y="2423160"/>
            <a:ext cx="731520" cy="731520"/>
          </a:xfrm>
          <a:prstGeom prst="ellipse">
            <a:avLst/>
          </a:prstGeom>
          <a:solidFill>
            <a:srgbClr val="EAF5E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624328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93008" y="329184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9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Alcance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493008" y="35844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SEO + conteúdo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3538728" y="4114800"/>
            <a:ext cx="2304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Guias de imigração, custo de vida e câmbio capturam quem busca no Google.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934456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4"/>
          <p:cNvSpPr/>
          <p:nvPr/>
        </p:nvSpPr>
        <p:spPr>
          <a:xfrm>
            <a:off x="6208776" y="2103120"/>
            <a:ext cx="2670048" cy="320040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178040" y="2423160"/>
            <a:ext cx="731520" cy="731520"/>
          </a:xfrm>
          <a:prstGeom prst="ellipse">
            <a:avLst/>
          </a:prstGeom>
          <a:solidFill>
            <a:srgbClr val="EAF5E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9208" y="2624328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45936" y="329184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9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Indicação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345936" y="35844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Programa “Indique”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6391656" y="4114800"/>
            <a:ext cx="2304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usuário traz outro; recompensa e ranking ampliam o boca a boca.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787384" y="3383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20"/>
          <p:cNvSpPr/>
          <p:nvPr/>
        </p:nvSpPr>
        <p:spPr>
          <a:xfrm>
            <a:off x="9061704" y="2103120"/>
            <a:ext cx="2670048" cy="320040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10030968" y="2423160"/>
            <a:ext cx="731520" cy="731520"/>
          </a:xfrm>
          <a:prstGeom prst="ellipse">
            <a:avLst/>
          </a:prstGeom>
          <a:solidFill>
            <a:srgbClr val="EAF5EE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2136" y="2624328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98864" y="329184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9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Retenção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9198864" y="358444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Comunidade &amp; push</a:t>
            </a:r>
            <a:endParaRPr lang="en-US" sz="1550" dirty="0"/>
          </a:p>
        </p:txBody>
      </p:sp>
      <p:sp>
        <p:nvSpPr>
          <p:cNvPr id="30" name="Text 24"/>
          <p:cNvSpPr/>
          <p:nvPr/>
        </p:nvSpPr>
        <p:spPr>
          <a:xfrm>
            <a:off x="9244584" y="4114800"/>
            <a:ext cx="2304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Grupos, eventos e notificações em PT mantêm o usuário voltando.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02920" y="5532120"/>
            <a:ext cx="11155680" cy="713232"/>
          </a:xfrm>
          <a:prstGeom prst="roundRect">
            <a:avLst>
              <a:gd name="adj" fmla="val 10256"/>
            </a:avLst>
          </a:prstGeom>
          <a:solidFill>
            <a:srgbClr val="001A5E"/>
          </a:solidFill>
          <a:ln/>
        </p:spPr>
      </p:sp>
      <p:sp>
        <p:nvSpPr>
          <p:cNvPr id="32" name="Text 26"/>
          <p:cNvSpPr/>
          <p:nvPr/>
        </p:nvSpPr>
        <p:spPr>
          <a:xfrm>
            <a:off x="822960" y="553212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baixo, efeito de rede.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brasileiros entram, mais valioso o app fica para o próximo — comunidade é o fosso.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BrasilConnect USA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411480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material para investidor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9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VANTAGEM COMPETITIVA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Ninguém atende essa comunidade por inteiro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02920" y="16276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gringos não falam português nem conhecem a dor do imigrante. Grupos de WhatsApp não escalam nem monetizam. Nós unimos os dois.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286000"/>
            <a:ext cx="3931920" cy="786384"/>
          </a:xfrm>
          <a:prstGeom prst="rect">
            <a:avLst/>
          </a:prstGeom>
          <a:solidFill>
            <a:srgbClr val="FAF7F0"/>
          </a:solidFill>
          <a:ln w="12700">
            <a:solidFill>
              <a:srgbClr val="E5E1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34840" y="2286000"/>
            <a:ext cx="2606040" cy="786384"/>
          </a:xfrm>
          <a:prstGeom prst="rect">
            <a:avLst/>
          </a:prstGeom>
          <a:solidFill>
            <a:srgbClr val="F1ECDF"/>
          </a:solidFill>
          <a:ln w="12700">
            <a:solidFill>
              <a:srgbClr val="E5E1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26280" y="2286000"/>
            <a:ext cx="2423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Apps gringos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(DoorDash, Zelle…)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40880" y="2286000"/>
            <a:ext cx="2468880" cy="786384"/>
          </a:xfrm>
          <a:prstGeom prst="rect">
            <a:avLst/>
          </a:prstGeom>
          <a:solidFill>
            <a:srgbClr val="F1ECDF"/>
          </a:solidFill>
          <a:ln w="12700">
            <a:solidFill>
              <a:srgbClr val="E5E1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0" y="2286000"/>
            <a:ext cx="2286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Grupos de</a:t>
            </a:r>
            <a:endParaRPr lang="en-US" sz="13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WhatsApp/FB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509760" y="2286000"/>
            <a:ext cx="2194560" cy="786384"/>
          </a:xfrm>
          <a:prstGeom prst="rect">
            <a:avLst/>
          </a:prstGeom>
          <a:solidFill>
            <a:srgbClr val="001A5E"/>
          </a:solidFill>
          <a:ln w="12700">
            <a:solidFill>
              <a:srgbClr val="E5E1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0" y="2286000"/>
            <a:ext cx="2011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300" b="1" dirty="0">
                <a:solidFill>
                  <a:srgbClr val="FFD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BrasilConnect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072384"/>
            <a:ext cx="39319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072384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português, pensado pro BR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34840" y="3072384"/>
            <a:ext cx="2606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1556" y="3227832"/>
            <a:ext cx="292608" cy="29260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040880" y="3072384"/>
            <a:ext cx="24688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040880" y="3072384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509760" y="3072384"/>
            <a:ext cx="2194560" cy="603504"/>
          </a:xfrm>
          <a:prstGeom prst="rect">
            <a:avLst/>
          </a:prstGeom>
          <a:solidFill>
            <a:srgbClr val="EAF5EE"/>
          </a:solidFill>
          <a:ln w="12700">
            <a:solidFill>
              <a:srgbClr val="E5E1D6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0736" y="3227832"/>
            <a:ext cx="292608" cy="292608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502920" y="3675888"/>
            <a:ext cx="3931920" cy="603504"/>
          </a:xfrm>
          <a:prstGeom prst="rect">
            <a:avLst/>
          </a:prstGeom>
          <a:solidFill>
            <a:srgbClr val="F1ECDF"/>
          </a:solidFill>
          <a:ln w="12700">
            <a:solidFill>
              <a:srgbClr val="E5E1D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67512" y="3675888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num lugar só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434840" y="3675888"/>
            <a:ext cx="2606040" cy="603504"/>
          </a:xfrm>
          <a:prstGeom prst="rect">
            <a:avLst/>
          </a:prstGeom>
          <a:solidFill>
            <a:srgbClr val="F1ECDF"/>
          </a:solidFill>
          <a:ln w="12700">
            <a:solidFill>
              <a:srgbClr val="E5E1D6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1556" y="3831336"/>
            <a:ext cx="292608" cy="292608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7040880" y="3675888"/>
            <a:ext cx="2468880" cy="603504"/>
          </a:xfrm>
          <a:prstGeom prst="rect">
            <a:avLst/>
          </a:prstGeom>
          <a:solidFill>
            <a:srgbClr val="F1ECDF"/>
          </a:solidFill>
          <a:ln w="12700">
            <a:solidFill>
              <a:srgbClr val="E5E1D6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3831336"/>
            <a:ext cx="292608" cy="292608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9509760" y="3675888"/>
            <a:ext cx="2194560" cy="603504"/>
          </a:xfrm>
          <a:prstGeom prst="rect">
            <a:avLst/>
          </a:prstGeom>
          <a:solidFill>
            <a:srgbClr val="EAF5EE"/>
          </a:solidFill>
          <a:ln w="12700">
            <a:solidFill>
              <a:srgbClr val="E5E1D6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0736" y="3831336"/>
            <a:ext cx="292608" cy="292608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502920" y="4279392"/>
            <a:ext cx="39319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67512" y="4279392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 &amp; moderação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4434840" y="4279392"/>
            <a:ext cx="2606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4434840" y="4279392"/>
            <a:ext cx="2606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parcial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7040880" y="4279392"/>
            <a:ext cx="24688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9016" y="4434840"/>
            <a:ext cx="292608" cy="292608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9509760" y="4279392"/>
            <a:ext cx="2194560" cy="603504"/>
          </a:xfrm>
          <a:prstGeom prst="rect">
            <a:avLst/>
          </a:prstGeom>
          <a:solidFill>
            <a:srgbClr val="EAF5EE"/>
          </a:solidFill>
          <a:ln w="12700">
            <a:solidFill>
              <a:srgbClr val="E5E1D6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0736" y="4434840"/>
            <a:ext cx="292608" cy="292608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502920" y="4882896"/>
            <a:ext cx="3931920" cy="603504"/>
          </a:xfrm>
          <a:prstGeom prst="rect">
            <a:avLst/>
          </a:prstGeom>
          <a:solidFill>
            <a:srgbClr val="F1ECDF"/>
          </a:solidFill>
          <a:ln w="12700">
            <a:solidFill>
              <a:srgbClr val="E5E1D6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667512" y="4882896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Taxas justas (ex: 2% restaurante)</a:t>
            </a:r>
            <a:endParaRPr lang="en-US" sz="1200" dirty="0"/>
          </a:p>
        </p:txBody>
      </p:sp>
      <p:sp>
        <p:nvSpPr>
          <p:cNvPr id="38" name="Shape 29"/>
          <p:cNvSpPr/>
          <p:nvPr/>
        </p:nvSpPr>
        <p:spPr>
          <a:xfrm>
            <a:off x="4434840" y="4882896"/>
            <a:ext cx="2606040" cy="603504"/>
          </a:xfrm>
          <a:prstGeom prst="rect">
            <a:avLst/>
          </a:prstGeom>
          <a:solidFill>
            <a:srgbClr val="F1ECDF"/>
          </a:solidFill>
          <a:ln w="12700">
            <a:solidFill>
              <a:srgbClr val="E5E1D6"/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1556" y="5038344"/>
            <a:ext cx="292608" cy="292608"/>
          </a:xfrm>
          <a:prstGeom prst="rect">
            <a:avLst/>
          </a:prstGeom>
        </p:spPr>
      </p:pic>
      <p:sp>
        <p:nvSpPr>
          <p:cNvPr id="40" name="Shape 30"/>
          <p:cNvSpPr/>
          <p:nvPr/>
        </p:nvSpPr>
        <p:spPr>
          <a:xfrm>
            <a:off x="7040880" y="4882896"/>
            <a:ext cx="2468880" cy="603504"/>
          </a:xfrm>
          <a:prstGeom prst="rect">
            <a:avLst/>
          </a:prstGeom>
          <a:solidFill>
            <a:srgbClr val="F1ECDF"/>
          </a:solidFill>
          <a:ln w="12700">
            <a:solidFill>
              <a:srgbClr val="E5E1D6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7040880" y="4882896"/>
            <a:ext cx="24688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1050" dirty="0"/>
          </a:p>
        </p:txBody>
      </p:sp>
      <p:sp>
        <p:nvSpPr>
          <p:cNvPr id="42" name="Shape 32"/>
          <p:cNvSpPr/>
          <p:nvPr/>
        </p:nvSpPr>
        <p:spPr>
          <a:xfrm>
            <a:off x="9509760" y="4882896"/>
            <a:ext cx="2194560" cy="603504"/>
          </a:xfrm>
          <a:prstGeom prst="rect">
            <a:avLst/>
          </a:prstGeom>
          <a:solidFill>
            <a:srgbClr val="EAF5EE"/>
          </a:solidFill>
          <a:ln w="12700">
            <a:solidFill>
              <a:srgbClr val="E5E1D6"/>
            </a:solidFill>
            <a:prstDash val="solid"/>
          </a:ln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60736" y="5038344"/>
            <a:ext cx="292608" cy="292608"/>
          </a:xfrm>
          <a:prstGeom prst="rect">
            <a:avLst/>
          </a:prstGeom>
        </p:spPr>
      </p:pic>
      <p:sp>
        <p:nvSpPr>
          <p:cNvPr id="44" name="Shape 33"/>
          <p:cNvSpPr/>
          <p:nvPr/>
        </p:nvSpPr>
        <p:spPr>
          <a:xfrm>
            <a:off x="502920" y="5486400"/>
            <a:ext cx="39319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667512" y="548640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 &amp; escala</a:t>
            </a:r>
            <a:endParaRPr lang="en-US" sz="1200" dirty="0"/>
          </a:p>
        </p:txBody>
      </p:sp>
      <p:sp>
        <p:nvSpPr>
          <p:cNvPr id="46" name="Shape 35"/>
          <p:cNvSpPr/>
          <p:nvPr/>
        </p:nvSpPr>
        <p:spPr>
          <a:xfrm>
            <a:off x="4434840" y="5486400"/>
            <a:ext cx="26060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</p:spPr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91556" y="5641848"/>
            <a:ext cx="292608" cy="292608"/>
          </a:xfrm>
          <a:prstGeom prst="rect">
            <a:avLst/>
          </a:prstGeom>
        </p:spPr>
      </p:pic>
      <p:sp>
        <p:nvSpPr>
          <p:cNvPr id="48" name="Shape 36"/>
          <p:cNvSpPr/>
          <p:nvPr/>
        </p:nvSpPr>
        <p:spPr>
          <a:xfrm>
            <a:off x="7040880" y="5486400"/>
            <a:ext cx="24688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</p:spPr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29016" y="5641848"/>
            <a:ext cx="292608" cy="292608"/>
          </a:xfrm>
          <a:prstGeom prst="rect">
            <a:avLst/>
          </a:prstGeom>
        </p:spPr>
      </p:pic>
      <p:sp>
        <p:nvSpPr>
          <p:cNvPr id="50" name="Shape 37"/>
          <p:cNvSpPr/>
          <p:nvPr/>
        </p:nvSpPr>
        <p:spPr>
          <a:xfrm>
            <a:off x="9509760" y="5486400"/>
            <a:ext cx="2194560" cy="603504"/>
          </a:xfrm>
          <a:prstGeom prst="rect">
            <a:avLst/>
          </a:prstGeom>
          <a:solidFill>
            <a:srgbClr val="EAF5EE"/>
          </a:solidFill>
          <a:ln w="12700">
            <a:solidFill>
              <a:srgbClr val="E5E1D6"/>
            </a:solidFill>
            <a:prstDash val="solid"/>
          </a:ln>
        </p:spPr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60736" y="5641848"/>
            <a:ext cx="292608" cy="292608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BrasilConnect USA</a:t>
            </a:r>
            <a:endParaRPr lang="en-US" sz="900" dirty="0"/>
          </a:p>
        </p:txBody>
      </p:sp>
      <p:sp>
        <p:nvSpPr>
          <p:cNvPr id="53" name="Text 39"/>
          <p:cNvSpPr/>
          <p:nvPr/>
        </p:nvSpPr>
        <p:spPr>
          <a:xfrm>
            <a:off x="411480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material para investidor</a:t>
            </a:r>
            <a:endParaRPr lang="en-US" sz="900" dirty="0"/>
          </a:p>
        </p:txBody>
      </p:sp>
      <p:sp>
        <p:nvSpPr>
          <p:cNvPr id="54" name="Text 40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1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6400800" cy="6400800"/>
          </a:xfrm>
          <a:prstGeom prst="ellipse">
            <a:avLst/>
          </a:prstGeom>
          <a:solidFill>
            <a:srgbClr val="009C3B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ESTAMOS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Pré-lançamento — com o difícil já feito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78608" cy="1554480"/>
          </a:xfrm>
          <a:prstGeom prst="roundRect">
            <a:avLst>
              <a:gd name="adj" fmla="val 5882"/>
            </a:avLst>
          </a:prstGeom>
          <a:solidFill>
            <a:srgbClr val="0A2548"/>
          </a:solidFill>
          <a:ln w="12700">
            <a:solidFill>
              <a:srgbClr val="2434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2140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D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49808" y="290779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no ar e integrados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46704" y="1965960"/>
            <a:ext cx="2578608" cy="1554480"/>
          </a:xfrm>
          <a:prstGeom prst="roundRect">
            <a:avLst>
              <a:gd name="adj" fmla="val 5882"/>
            </a:avLst>
          </a:prstGeom>
          <a:solidFill>
            <a:srgbClr val="0A2548"/>
          </a:solidFill>
          <a:ln w="12700">
            <a:solidFill>
              <a:srgbClr val="2434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9584" y="212140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D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547872" y="290779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produto core construído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44768" y="1965960"/>
            <a:ext cx="2578608" cy="1554480"/>
          </a:xfrm>
          <a:prstGeom prst="roundRect">
            <a:avLst>
              <a:gd name="adj" fmla="val 5882"/>
            </a:avLst>
          </a:prstGeom>
          <a:solidFill>
            <a:srgbClr val="0A2548"/>
          </a:solidFill>
          <a:ln w="12700">
            <a:solidFill>
              <a:srgbClr val="2434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27648" y="212140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D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dias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345936" y="290779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Copa começar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42832" y="1965960"/>
            <a:ext cx="2578608" cy="1554480"/>
          </a:xfrm>
          <a:prstGeom prst="roundRect">
            <a:avLst>
              <a:gd name="adj" fmla="val 5882"/>
            </a:avLst>
          </a:prstGeom>
          <a:solidFill>
            <a:srgbClr val="0A2548"/>
          </a:solidFill>
          <a:ln w="12700">
            <a:solidFill>
              <a:srgbClr val="2434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25712" y="2121408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D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144000" y="290779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7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capital externo até hoje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840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Já entregue</a:t>
            </a:r>
            <a:endParaRPr lang="en-US" sz="16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4315968"/>
            <a:ext cx="237744" cy="23774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14400" y="42976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+ PWA instalável (iOS/Android)</a:t>
            </a:r>
            <a:endParaRPr lang="en-US" sz="12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736592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914400" y="471830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Pagamentos (Stripe), e-mail (Resend) e push integrados</a:t>
            </a:r>
            <a:endParaRPr lang="en-US" sz="125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157216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14400" y="513892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por magic link + onboarding com drip de e-mails</a:t>
            </a:r>
            <a:endParaRPr lang="en-US" sz="12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5577840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4400" y="555955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admin: analytics, moderação, leads, waitlist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6400800" y="3840480"/>
            <a:ext cx="5257800" cy="2286000"/>
          </a:xfrm>
          <a:prstGeom prst="roundRect">
            <a:avLst>
              <a:gd name="adj" fmla="val 4000"/>
            </a:avLst>
          </a:prstGeom>
          <a:solidFill>
            <a:srgbClr val="11224F"/>
          </a:solidFill>
          <a:ln w="12700">
            <a:solidFill>
              <a:srgbClr val="24345E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400800" y="3840480"/>
            <a:ext cx="109728" cy="22860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28" name="Text 22"/>
          <p:cNvSpPr/>
          <p:nvPr/>
        </p:nvSpPr>
        <p:spPr>
          <a:xfrm>
            <a:off x="6675120" y="4023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falta é combustível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6675120" y="452628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está pronto. O capital acelera aquisição na janela da Copa, ativa as parcerias de remessa que já estão integradas e financia o time para escalar.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BrasilConnect USA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411480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material para investidor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D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9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próximos 18 meses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10515600" cy="45720"/>
          </a:xfrm>
          <a:prstGeom prst="rect">
            <a:avLst/>
          </a:prstGeom>
          <a:solidFill>
            <a:srgbClr val="E5E1D6"/>
          </a:solidFill>
          <a:ln/>
        </p:spPr>
      </p:sp>
      <p:sp>
        <p:nvSpPr>
          <p:cNvPr id="5" name="Shape 3"/>
          <p:cNvSpPr/>
          <p:nvPr/>
        </p:nvSpPr>
        <p:spPr>
          <a:xfrm>
            <a:off x="795528" y="2212848"/>
            <a:ext cx="292608" cy="292608"/>
          </a:xfrm>
          <a:prstGeom prst="ellipse">
            <a:avLst/>
          </a:prstGeom>
          <a:solidFill>
            <a:srgbClr val="009C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2743200"/>
            <a:ext cx="2670048" cy="310896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2743200"/>
            <a:ext cx="2670048" cy="566928"/>
          </a:xfrm>
          <a:prstGeom prst="rect">
            <a:avLst/>
          </a:prstGeom>
          <a:solidFill>
            <a:srgbClr val="009C3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7432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4564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Lançar na Copa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4088" y="4041648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Aquisição viral via Bolão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Ativar afiliados de remessa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dos primeiros negócios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48456" y="2212848"/>
            <a:ext cx="292608" cy="292608"/>
          </a:xfrm>
          <a:prstGeom prst="ellipse">
            <a:avLst/>
          </a:prstGeom>
          <a:solidFill>
            <a:srgbClr val="FFD7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55848" y="2743200"/>
            <a:ext cx="2670048" cy="310896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55848" y="2743200"/>
            <a:ext cx="2670048" cy="56692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4" name="Text 12"/>
          <p:cNvSpPr/>
          <p:nvPr/>
        </p:nvSpPr>
        <p:spPr>
          <a:xfrm>
            <a:off x="3538728" y="27432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1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38728" y="34564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Provar receita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57016" y="4041648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Connect ao vivo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Assinaturas de negócios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Primeiras cidades-âncora (FL, MA)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01384" y="2212848"/>
            <a:ext cx="292608" cy="292608"/>
          </a:xfrm>
          <a:prstGeom prst="ellipse">
            <a:avLst/>
          </a:prstGeom>
          <a:solidFill>
            <a:srgbClr val="001A5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08776" y="2743200"/>
            <a:ext cx="2670048" cy="310896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08776" y="2743200"/>
            <a:ext cx="2670048" cy="566928"/>
          </a:xfrm>
          <a:prstGeom prst="rect">
            <a:avLst/>
          </a:prstGeom>
          <a:solidFill>
            <a:srgbClr val="001A5E"/>
          </a:solidFill>
          <a:ln/>
        </p:spPr>
      </p:sp>
      <p:sp>
        <p:nvSpPr>
          <p:cNvPr id="20" name="Text 18"/>
          <p:cNvSpPr/>
          <p:nvPr/>
        </p:nvSpPr>
        <p:spPr>
          <a:xfrm>
            <a:off x="6391656" y="27432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meses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91656" y="34564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Escalar comunidade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09944" y="4041648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&amp; DM entre usuários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nas lojas (iOS/Android)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geográfica EUA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354312" y="2212848"/>
            <a:ext cx="292608" cy="292608"/>
          </a:xfrm>
          <a:prstGeom prst="ellipse">
            <a:avLst/>
          </a:prstGeom>
          <a:solidFill>
            <a:srgbClr val="001A5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61704" y="2743200"/>
            <a:ext cx="2670048" cy="3108960"/>
          </a:xfrm>
          <a:prstGeom prst="roundRect">
            <a:avLst>
              <a:gd name="adj" fmla="val 3425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061704" y="2743200"/>
            <a:ext cx="2670048" cy="566928"/>
          </a:xfrm>
          <a:prstGeom prst="rect">
            <a:avLst/>
          </a:prstGeom>
          <a:solidFill>
            <a:srgbClr val="001A5E"/>
          </a:solidFill>
          <a:ln/>
        </p:spPr>
      </p:sp>
      <p:sp>
        <p:nvSpPr>
          <p:cNvPr id="26" name="Text 24"/>
          <p:cNvSpPr/>
          <p:nvPr/>
        </p:nvSpPr>
        <p:spPr>
          <a:xfrm>
            <a:off x="9244584" y="27432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meses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244584" y="3456432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Aprofundar receita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62872" y="4041648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própria / carteira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de serviços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para a Série 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BrasilConnect USA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11480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material para investidor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09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está construindo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02920" y="2103120"/>
            <a:ext cx="548640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5E1D6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468880"/>
            <a:ext cx="1371600" cy="1371600"/>
          </a:xfrm>
          <a:prstGeom prst="ellipse">
            <a:avLst/>
          </a:prstGeom>
          <a:solidFill>
            <a:srgbClr val="001A5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6888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2606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A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Anderson Torres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468880" y="30632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9C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Fundador &amp; Desenvolvedor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411480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[Adicione 2–3 linhas de bio: sua experiência, por que você é a pessoa certa para resolver isso, e sua conexão com a comunidade brasileira nos EUA.]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2103120"/>
            <a:ext cx="5394960" cy="3840480"/>
          </a:xfrm>
          <a:prstGeom prst="roundRect">
            <a:avLst>
              <a:gd name="adj" fmla="val 2381"/>
            </a:avLst>
          </a:prstGeom>
          <a:solidFill>
            <a:srgbClr val="001A5E"/>
          </a:solidFill>
          <a:ln/>
          <a:effectLst>
            <a:outerShdw sx="100000" sy="100000" kx="0" ky="0" algn="bl" rotWithShape="0" blurRad="1143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23774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que esse time</a:t>
            </a:r>
            <a:endParaRPr lang="en-US" sz="18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3081528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995160" y="306324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7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Construiu sozinho um produto completo e em produção — execução comprovada com pouco recurso.</a:t>
            </a:r>
            <a:endParaRPr lang="en-US" sz="13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995928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95160" y="397764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7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técnico ponta a ponta: produto, backend, pagamentos e crescimento.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91032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95160" y="489204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7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 parte da comunidade que atende — entende a dor de verdade.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583680" y="5532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[Próximos hires com a rodada: crescimento/marketing e parcerias.]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BrasilConnect USA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411480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material para investidor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E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1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743200"/>
            <a:ext cx="6400800" cy="6400800"/>
          </a:xfrm>
          <a:prstGeom prst="ellipse">
            <a:avLst/>
          </a:prstGeom>
          <a:solidFill>
            <a:srgbClr val="009C3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1828800"/>
            <a:ext cx="5943600" cy="5943600"/>
          </a:xfrm>
          <a:prstGeom prst="ellipse">
            <a:avLst/>
          </a:prstGeom>
          <a:solidFill>
            <a:srgbClr val="FFD700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OFERTA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822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Buscamos uma rodada seed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4160520" cy="3977640"/>
          </a:xfrm>
          <a:prstGeom prst="roundRect">
            <a:avLst>
              <a:gd name="adj" fmla="val 2299"/>
            </a:avLst>
          </a:prstGeom>
          <a:solidFill>
            <a:srgbClr val="0A2548"/>
          </a:solidFill>
          <a:ln w="12700">
            <a:solidFill>
              <a:srgbClr val="24345E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9456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7889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Captação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31089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D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US$ 750K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868680" y="4023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rodada seed (SAFE)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68680" y="4526280"/>
            <a:ext cx="3200400" cy="18288"/>
          </a:xfrm>
          <a:prstGeom prst="rect">
            <a:avLst/>
          </a:prstGeom>
          <a:solidFill>
            <a:srgbClr val="24345E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470916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7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 de ~18 meses para chegar a métricas de Série A.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68680" y="5532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7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[valores sugeridos — ajustar]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029200" y="19202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Uso dos recursos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029200" y="2514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aquisição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0698480" y="2514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D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029200" y="2862072"/>
            <a:ext cx="6583680" cy="146304"/>
          </a:xfrm>
          <a:prstGeom prst="rect">
            <a:avLst/>
          </a:prstGeom>
          <a:solidFill>
            <a:srgbClr val="1B2C55"/>
          </a:solidFill>
          <a:ln/>
        </p:spPr>
      </p:sp>
      <p:sp>
        <p:nvSpPr>
          <p:cNvPr id="18" name="Shape 15"/>
          <p:cNvSpPr/>
          <p:nvPr/>
        </p:nvSpPr>
        <p:spPr>
          <a:xfrm>
            <a:off x="5029200" y="2862072"/>
            <a:ext cx="6583680" cy="146304"/>
          </a:xfrm>
          <a:prstGeom prst="rect">
            <a:avLst/>
          </a:prstGeom>
          <a:solidFill>
            <a:srgbClr val="00B34D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0" y="3026664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Aproveitar a janela da Copa + canais pagos e parcerias.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029200" y="3383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0698480" y="3383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D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029200" y="3730752"/>
            <a:ext cx="6583680" cy="146304"/>
          </a:xfrm>
          <a:prstGeom prst="rect">
            <a:avLst/>
          </a:prstGeom>
          <a:solidFill>
            <a:srgbClr val="1B2C55"/>
          </a:solidFill>
          <a:ln/>
        </p:spPr>
      </p:sp>
      <p:sp>
        <p:nvSpPr>
          <p:cNvPr id="23" name="Shape 20"/>
          <p:cNvSpPr/>
          <p:nvPr/>
        </p:nvSpPr>
        <p:spPr>
          <a:xfrm>
            <a:off x="5029200" y="3730752"/>
            <a:ext cx="5760720" cy="146304"/>
          </a:xfrm>
          <a:prstGeom prst="rect">
            <a:avLst/>
          </a:prstGeom>
          <a:solidFill>
            <a:srgbClr val="009C3B"/>
          </a:solidFill>
          <a:ln/>
        </p:spPr>
      </p:sp>
      <p:sp>
        <p:nvSpPr>
          <p:cNvPr id="24" name="Text 21"/>
          <p:cNvSpPr/>
          <p:nvPr/>
        </p:nvSpPr>
        <p:spPr>
          <a:xfrm>
            <a:off x="5029200" y="3895344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Crescimento/marketing e parcerias; suporte à comunidade.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029200" y="4251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&amp; engenharia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10698480" y="4251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D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5029200" y="4599432"/>
            <a:ext cx="6583680" cy="146304"/>
          </a:xfrm>
          <a:prstGeom prst="rect">
            <a:avLst/>
          </a:prstGeom>
          <a:solidFill>
            <a:srgbClr val="1B2C55"/>
          </a:solidFill>
          <a:ln/>
        </p:spPr>
      </p:sp>
      <p:sp>
        <p:nvSpPr>
          <p:cNvPr id="28" name="Shape 25"/>
          <p:cNvSpPr/>
          <p:nvPr/>
        </p:nvSpPr>
        <p:spPr>
          <a:xfrm>
            <a:off x="5029200" y="4599432"/>
            <a:ext cx="2468880" cy="146304"/>
          </a:xfrm>
          <a:prstGeom prst="rect">
            <a:avLst/>
          </a:prstGeom>
          <a:solidFill>
            <a:srgbClr val="2E66B0"/>
          </a:solidFill>
          <a:ln/>
        </p:spPr>
      </p:sp>
      <p:sp>
        <p:nvSpPr>
          <p:cNvPr id="29" name="Text 26"/>
          <p:cNvSpPr/>
          <p:nvPr/>
        </p:nvSpPr>
        <p:spPr>
          <a:xfrm>
            <a:off x="5029200" y="4764024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nas lojas, fintech/carteira e novos módulos.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5029200" y="5120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&amp; jurídico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10698480" y="5120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D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5029200" y="5468112"/>
            <a:ext cx="6583680" cy="146304"/>
          </a:xfrm>
          <a:prstGeom prst="rect">
            <a:avLst/>
          </a:prstGeom>
          <a:solidFill>
            <a:srgbClr val="1B2C55"/>
          </a:solidFill>
          <a:ln/>
        </p:spPr>
      </p:sp>
      <p:sp>
        <p:nvSpPr>
          <p:cNvPr id="33" name="Shape 30"/>
          <p:cNvSpPr/>
          <p:nvPr/>
        </p:nvSpPr>
        <p:spPr>
          <a:xfrm>
            <a:off x="5029200" y="5468112"/>
            <a:ext cx="1645920" cy="146304"/>
          </a:xfrm>
          <a:prstGeom prst="rect">
            <a:avLst/>
          </a:prstGeom>
          <a:solidFill>
            <a:srgbClr val="2E66B0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0" y="5632704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Infra, compliance (KYC/pagamentos) e reserva.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50292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BrasilConnect USA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11480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Confidencial — material para investidor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D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1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828800"/>
            <a:ext cx="7315200" cy="7315200"/>
          </a:xfrm>
          <a:prstGeom prst="ellipse">
            <a:avLst/>
          </a:prstGeom>
          <a:solidFill>
            <a:srgbClr val="009C3B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200400"/>
            <a:ext cx="6400800" cy="6400800"/>
          </a:xfrm>
          <a:prstGeom prst="ellipse">
            <a:avLst/>
          </a:prstGeom>
          <a:solidFill>
            <a:srgbClr val="FFD70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822960"/>
            <a:ext cx="960120" cy="960120"/>
          </a:xfrm>
          <a:prstGeom prst="roundRect">
            <a:avLst>
              <a:gd name="adj" fmla="val 15238"/>
            </a:avLst>
          </a:prstGeom>
          <a:solidFill>
            <a:srgbClr val="009C3B"/>
          </a:solidFill>
          <a:ln/>
        </p:spPr>
      </p:sp>
      <p:pic>
        <p:nvPicPr>
          <p:cNvPr id="5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68680"/>
            <a:ext cx="868680" cy="868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2860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Vamos construir a casa digital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77240" y="31089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1,9 milhão de brasileiros — </a:t>
            </a:r>
            <a:pPr indent="0" marL="0">
              <a:buNone/>
            </a:pPr>
            <a:r>
              <a:rPr lang="en-US" sz="4000" b="1" dirty="0">
                <a:solidFill>
                  <a:srgbClr val="FFD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juntos.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777240" y="42062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pronto. Mercado enorme. Timing único. Falta você.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77240" y="4937760"/>
            <a:ext cx="10607040" cy="1143000"/>
          </a:xfrm>
          <a:prstGeom prst="roundRect">
            <a:avLst>
              <a:gd name="adj" fmla="val 8000"/>
            </a:avLst>
          </a:prstGeom>
          <a:solidFill>
            <a:srgbClr val="0A2548"/>
          </a:solidFill>
          <a:ln w="12700">
            <a:solidFill>
              <a:srgbClr val="2434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4937760"/>
            <a:ext cx="109728" cy="114300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1" name="Text 8"/>
          <p:cNvSpPr/>
          <p:nvPr/>
        </p:nvSpPr>
        <p:spPr>
          <a:xfrm>
            <a:off x="1097280" y="51389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Anderson Torres · Fundador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97280" y="5532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[seu e-mail]  ·  [seu telefone/WhatsApp]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858000" y="53035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D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brasilconnectusa.com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BrasilConnect USA — Investor Deck</dc:title>
  <dc:subject>PptxGenJS Presentation</dc:subject>
  <dc:creator>BrasilConnect USA</dc:creator>
  <cp:lastModifiedBy>BrasilConnect USA</cp:lastModifiedBy>
  <cp:revision>1</cp:revision>
  <dcterms:created xsi:type="dcterms:W3CDTF">2026-06-08T18:55:48Z</dcterms:created>
  <dcterms:modified xsi:type="dcterms:W3CDTF">2026-06-08T18:55:48Z</dcterms:modified>
</cp:coreProperties>
</file>